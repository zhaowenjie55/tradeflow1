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713232"/>
            <a:ext cx="749808" cy="749808"/>
          </a:xfrm>
          <a:prstGeom prst="roundRect">
            <a:avLst>
              <a:gd name="adj" fmla="val 9756"/>
            </a:avLst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9326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36192" y="749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463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AI驱动的跨境选品与套利分析工作台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13969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8A5C6"/>
                </a:solidFill>
              </a:rPr>
              <a:t>把“海外爆款发现 -&gt; 国内货源匹配 -&gt; 利润测算 -&gt; 风险判断”压缩成一个可执行的智能体流程。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1664208" cy="329184"/>
          </a:xfrm>
          <a:prstGeom prst="roundRect">
            <a:avLst>
              <a:gd name="adj" fmla="val 22222"/>
            </a:avLst>
          </a:prstGeom>
          <a:solidFill>
            <a:srgbClr val="16213E"/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032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Nuxt 4 + Spring Boot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283464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6213E"/>
          </a:solidFill>
          <a:ln w="12700">
            <a:solidFill>
              <a:srgbClr val="16213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29032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GLM + BGE-M3 + pgvector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18304" y="283464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83B39"/>
          </a:solidFill>
          <a:ln w="12700">
            <a:solidFill>
              <a:srgbClr val="183B3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9032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Hackathon Pitch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713232"/>
            <a:ext cx="3886200" cy="1691640"/>
          </a:xfrm>
          <a:prstGeom prst="roundRect">
            <a:avLst>
              <a:gd name="adj" fmla="val 6486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713232"/>
            <a:ext cx="3886200" cy="256032"/>
          </a:xfrm>
          <a:prstGeom prst="rect">
            <a:avLst/>
          </a:prstGeom>
          <a:solidFill>
            <a:srgbClr val="0E1730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0104" y="795528"/>
            <a:ext cx="54864" cy="54864"/>
          </a:xfrm>
          <a:prstGeom prst="ellipse">
            <a:avLst/>
          </a:prstGeom>
          <a:solidFill>
            <a:srgbClr val="F26D6D"/>
          </a:solidFill>
          <a:ln w="12700">
            <a:solidFill>
              <a:srgbClr val="F26D6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9832" y="795528"/>
            <a:ext cx="54864" cy="54864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795528"/>
            <a:ext cx="54864" cy="54864"/>
          </a:xfrm>
          <a:prstGeom prst="ellipse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77266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Task Parameters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08392" y="1097280"/>
            <a:ext cx="3557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Acrylic Desktop Organizer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08392" y="1316736"/>
            <a:ext cx="3557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AmazonUS / Target margin 30%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08392" y="1536192"/>
            <a:ext cx="3557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Mode: Auto Fallback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08392" y="1755648"/>
            <a:ext cx="3557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Start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43800" y="260604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2606040"/>
            <a:ext cx="1828800" cy="256032"/>
          </a:xfrm>
          <a:prstGeom prst="rect">
            <a:avLst/>
          </a:prstGeom>
          <a:solidFill>
            <a:srgbClr val="0E1730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0104" y="2688336"/>
            <a:ext cx="54864" cy="54864"/>
          </a:xfrm>
          <a:prstGeom prst="ellipse">
            <a:avLst/>
          </a:prstGeom>
          <a:solidFill>
            <a:srgbClr val="F26D6D"/>
          </a:solidFill>
          <a:ln w="12700">
            <a:solidFill>
              <a:srgbClr val="F26D6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9832" y="2688336"/>
            <a:ext cx="54864" cy="54864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2688336"/>
            <a:ext cx="54864" cy="54864"/>
          </a:xfrm>
          <a:prstGeom prst="ellipse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64424" y="26654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Candidates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08392" y="2990088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海外爆款候选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08392" y="320954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Marker Holder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08392" y="342900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Perfume Risers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08392" y="3648456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Paper Organizer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08392" y="386791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9 results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555480" y="260604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55480" y="2606040"/>
            <a:ext cx="1874520" cy="256032"/>
          </a:xfrm>
          <a:prstGeom prst="rect">
            <a:avLst/>
          </a:prstGeom>
          <a:solidFill>
            <a:srgbClr val="0E1730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01784" y="2688336"/>
            <a:ext cx="54864" cy="54864"/>
          </a:xfrm>
          <a:prstGeom prst="ellipse">
            <a:avLst/>
          </a:prstGeom>
          <a:solidFill>
            <a:srgbClr val="F26D6D"/>
          </a:solidFill>
          <a:ln w="12700">
            <a:solidFill>
              <a:srgbClr val="F26D6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11512" y="2688336"/>
            <a:ext cx="54864" cy="54864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21240" y="2688336"/>
            <a:ext cx="54864" cy="54864"/>
          </a:xfrm>
          <a:prstGeom prst="ellipse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76104" y="266547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Report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720072" y="2990088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结构化报告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20072" y="320954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Profit +45.47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720072" y="3429000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Margin 48.6%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720072" y="3648456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Risk Low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720072" y="3867912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Decision Go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" y="6016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E9FD"/>
                </a:solidFill>
              </a:rPr>
              <a:t>黑客松路演版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跨境选品最大的问题，不是找商品，而是快速做判断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真正耗时的是跨平台搜索、语义转换、成本计算和风险判断的反复切换。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122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平台切换成本高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5C6"/>
                </a:solidFill>
              </a:rPr>
              <a:t>Amazon、1688、翻译、汇率、物流、表格来回跳转。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86200" y="196596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0792" y="21122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语义鸿沟明显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50792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5C6"/>
                </a:solidFill>
              </a:rPr>
              <a:t>英文标题很难直接命中 1688 供货商品。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124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利润测算不完整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4023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5C6"/>
                </a:solidFill>
              </a:rPr>
              <a:t>只看售价，忽略采购、运费、佣金和汇损。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86200" y="356616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0792" y="37124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风险判断靠经验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0792" y="4023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5C6"/>
                </a:solidFill>
              </a:rPr>
              <a:t>侵权、竞争和供货稳定性缺少结构化结论。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1920240"/>
            <a:ext cx="4160520" cy="3474720"/>
          </a:xfrm>
          <a:prstGeom prst="roundRect">
            <a:avLst>
              <a:gd name="adj" fmla="val 3158"/>
            </a:avLst>
          </a:prstGeom>
          <a:solidFill>
            <a:srgbClr val="0E1730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2240280"/>
            <a:ext cx="1508760" cy="621792"/>
          </a:xfrm>
          <a:prstGeom prst="roundRect">
            <a:avLst>
              <a:gd name="adj" fmla="val 17647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9832" y="24505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Amazon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64040" y="2240280"/>
            <a:ext cx="1508760" cy="621792"/>
          </a:xfrm>
          <a:prstGeom prst="roundRect">
            <a:avLst>
              <a:gd name="adj" fmla="val 17647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28632" y="24505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1688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3154680"/>
            <a:ext cx="1508760" cy="621792"/>
          </a:xfrm>
          <a:prstGeom prst="roundRect">
            <a:avLst>
              <a:gd name="adj" fmla="val 17647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9832" y="33649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Translate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64040" y="3154680"/>
            <a:ext cx="1508760" cy="621792"/>
          </a:xfrm>
          <a:prstGeom prst="roundRect">
            <a:avLst>
              <a:gd name="adj" fmla="val 17647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8632" y="33649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FX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4069080"/>
            <a:ext cx="1508760" cy="621792"/>
          </a:xfrm>
          <a:prstGeom prst="roundRect">
            <a:avLst>
              <a:gd name="adj" fmla="val 17647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9832" y="42793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</a:rPr>
              <a:t>Sheet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99248" y="4800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信息分散，判断断裂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TradeFlow 把选品流程收敛成“两阶段 AI 分析”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保留用户选择权，但把最耗时的语义检索、成本计算和报告生成自动化。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475488" cy="475488"/>
          </a:xfrm>
          <a:prstGeom prst="ellipse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359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2386584"/>
            <a:ext cx="457200" cy="182880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</a:rPr>
              <a:t>关键词输入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32004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输入商品关键词、目标市场和利润率目标。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2240280"/>
            <a:ext cx="475488" cy="475488"/>
          </a:xfrm>
          <a:prstGeom prst="ellipse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2359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386584"/>
            <a:ext cx="457200" cy="182880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</a:rPr>
              <a:t>海外爆款发现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99232" y="32004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先在海外平台筛出值得继续看的候选。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240280"/>
            <a:ext cx="475488" cy="475488"/>
          </a:xfrm>
          <a:prstGeom prst="ellipse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2359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2386584"/>
            <a:ext cx="457200" cy="182880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</a:rPr>
              <a:t>用户选中候选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9512" y="32004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人机协同，在关键决策点由用户选择继续分析的商品。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0" y="2240280"/>
            <a:ext cx="475488" cy="475488"/>
          </a:xfrm>
          <a:prstGeom prst="ellipse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35824" y="2359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2386584"/>
            <a:ext cx="457200" cy="182880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</a:rPr>
              <a:t>国内货源匹配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79792" y="32004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做中文改写、1688 语义召回和国内商品详情补齐。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829800" y="2240280"/>
            <a:ext cx="475488" cy="475488"/>
          </a:xfrm>
          <a:prstGeom prst="ellipse">
            <a:avLst/>
          </a:prstGeom>
          <a:solidFill>
            <a:srgbClr val="21C087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76104" y="2359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20072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</a:rPr>
              <a:t>利润与风险判断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20072" y="320040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自动输出结构化报告、利润率、风险等级和建议动作。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5074920"/>
            <a:ext cx="2651760" cy="896112"/>
          </a:xfrm>
          <a:prstGeom prst="roundRect">
            <a:avLst>
              <a:gd name="adj" fmla="val 12245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5074920"/>
            <a:ext cx="73152" cy="896112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239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输出不是一句回答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" y="5458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结构化报告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78992" y="566013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结论 / 利润率 / 风险 / 证据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77640" y="5074920"/>
            <a:ext cx="2651760" cy="896112"/>
          </a:xfrm>
          <a:prstGeom prst="roundRect">
            <a:avLst>
              <a:gd name="adj" fmla="val 12245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5074920"/>
            <a:ext cx="73152" cy="89611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5239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关键交互设计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42232" y="5458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用户二次选择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142232" y="566013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保留人机协同的可控性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40880" y="5074920"/>
            <a:ext cx="3657600" cy="896112"/>
          </a:xfrm>
          <a:prstGeom prst="roundRect">
            <a:avLst>
              <a:gd name="adj" fmla="val 12245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40880" y="5074920"/>
            <a:ext cx="73152" cy="896112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52395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系统价值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05472" y="5458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闭环判断链路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205472" y="566013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发现 + 匹配 + 测算 + 风控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这不是聊天机器人，而是一套可直接操作的工作台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三栏结构把任务参数、候选商品和结构化报告放在同一工作面上。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423160" cy="4160520"/>
          </a:xfrm>
          <a:prstGeom prst="roundRect">
            <a:avLst>
              <a:gd name="adj" fmla="val 4528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848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任务参数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32688" y="2487168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0E1730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63347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Keyword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2688" y="3108960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0E1730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2552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Market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" y="3730752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0E1730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87705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Target Margin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2688" y="4352544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0E1730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49884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Top 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2688" y="4974336"/>
            <a:ext cx="2011680" cy="420624"/>
          </a:xfrm>
          <a:prstGeom prst="roundRect">
            <a:avLst>
              <a:gd name="adj" fmla="val 26087"/>
            </a:avLst>
          </a:prstGeom>
          <a:solidFill>
            <a:srgbClr val="0E1730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512064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5C6"/>
                </a:solidFill>
              </a:rPr>
              <a:t>Mode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557784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564642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开始分析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8745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084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海外爆款候选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657600" y="2514600"/>
            <a:ext cx="960120" cy="1207008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2624328"/>
            <a:ext cx="740664" cy="420624"/>
          </a:xfrm>
          <a:prstGeom prst="rect">
            <a:avLst/>
          </a:prstGeom>
          <a:solidFill>
            <a:srgbClr val="233455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31181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B"/>
                </a:solidFill>
              </a:rPr>
              <a:t>Acrylic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F7FB"/>
                </a:solidFill>
              </a:rPr>
              <a:t>Marker Holder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28032" y="2514600"/>
            <a:ext cx="960120" cy="1207008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624328"/>
            <a:ext cx="740664" cy="420624"/>
          </a:xfrm>
          <a:prstGeom prst="rect">
            <a:avLst/>
          </a:prstGeom>
          <a:solidFill>
            <a:srgbClr val="233455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1181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Candidate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Product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98464" y="2514600"/>
            <a:ext cx="960120" cy="1207008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192" y="2624328"/>
            <a:ext cx="740664" cy="420624"/>
          </a:xfrm>
          <a:prstGeom prst="rect">
            <a:avLst/>
          </a:prstGeom>
          <a:solidFill>
            <a:srgbClr val="233455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31181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Candidate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Product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0" y="3977640"/>
            <a:ext cx="960120" cy="1207008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67328" y="4087368"/>
            <a:ext cx="740664" cy="420624"/>
          </a:xfrm>
          <a:prstGeom prst="rect">
            <a:avLst/>
          </a:prstGeom>
          <a:solidFill>
            <a:srgbClr val="233455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45811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Candidate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Product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28032" y="3977640"/>
            <a:ext cx="960120" cy="1207008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4087368"/>
            <a:ext cx="740664" cy="420624"/>
          </a:xfrm>
          <a:prstGeom prst="rect">
            <a:avLst/>
          </a:prstGeom>
          <a:solidFill>
            <a:srgbClr val="233455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5811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Candidate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Product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98464" y="3977640"/>
            <a:ext cx="960120" cy="1207008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08192" y="4087368"/>
            <a:ext cx="740664" cy="420624"/>
          </a:xfrm>
          <a:prstGeom prst="rect">
            <a:avLst/>
          </a:prstGeom>
          <a:solidFill>
            <a:srgbClr val="233455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08192" y="45811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Candidate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F7FB"/>
                </a:solidFill>
              </a:rPr>
              <a:t>Product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43800" y="1874520"/>
            <a:ext cx="3913632" cy="4160520"/>
          </a:xfrm>
          <a:prstGeom prst="roundRect">
            <a:avLst>
              <a:gd name="adj" fmla="val 2804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2084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结构化报告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818120" y="2468880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2468880"/>
            <a:ext cx="73152" cy="841248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82712" y="2633472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利润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82712" y="285292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¥45.47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982712" y="2999232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预估利润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70848" y="2468880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70848" y="2468880"/>
            <a:ext cx="73152" cy="841248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2633472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利润率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35440" y="285292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48.6%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235440" y="2999232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预估利润率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323576" y="2468880"/>
            <a:ext cx="877824" cy="841248"/>
          </a:xfrm>
          <a:prstGeom prst="roundRect">
            <a:avLst>
              <a:gd name="adj" fmla="val 13043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23576" y="2468880"/>
            <a:ext cx="73152" cy="841248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88168" y="2633472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风险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488168" y="2852928"/>
            <a:ext cx="55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低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0488168" y="2999232"/>
            <a:ext cx="557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Low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827264" y="36118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支持桌面工作台和流式浏览两种模式</a:t>
            </a:r>
            <a:pPr indent="0" marL="0">
              <a:buNone/>
            </a:pPr>
            <a:r>
              <a:rPr lang="en-US" sz="112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支持历史任务、报告列表、在线预览和 Markdown 下载</a:t>
            </a:r>
            <a:pPr indent="0" marL="0">
              <a:buNone/>
            </a:pPr>
            <a:r>
              <a:rPr lang="en-US" sz="112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思考日志和最终结论在同一界面汇总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TradeFlow 的壁垒在于把模型、检索、任务编排和 fallback 串成稳定链路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不仅能回答问题，更能稳定地跑完一条业务流程。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783080" cy="1051560"/>
          </a:xfrm>
          <a:prstGeom prst="roundRect">
            <a:avLst>
              <a:gd name="adj" fmla="val 10435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40280"/>
            <a:ext cx="1783080" cy="73152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Frontend Workbench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50976" y="2788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Nuxt 4 + Vue 3 + Pinia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2240280"/>
            <a:ext cx="1783080" cy="1051560"/>
          </a:xfrm>
          <a:prstGeom prst="roundRect">
            <a:avLst>
              <a:gd name="adj" fmla="val 10435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240280"/>
            <a:ext cx="1783080" cy="7315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25146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Task Orchestrator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282696" y="2788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Spring Boot + 异步状态机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0" y="2240280"/>
            <a:ext cx="1783080" cy="1051560"/>
          </a:xfrm>
          <a:prstGeom prst="roundRect">
            <a:avLst>
              <a:gd name="adj" fmla="val 10435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2240280"/>
            <a:ext cx="178308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4416" y="25146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LLM Layer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614416" y="2788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GLM 改写与报告叙事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18120" y="2240280"/>
            <a:ext cx="1783080" cy="1051560"/>
          </a:xfrm>
          <a:prstGeom prst="roundRect">
            <a:avLst>
              <a:gd name="adj" fmla="val 10435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2240280"/>
            <a:ext cx="1783080" cy="73152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46136" y="25146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Vector Retrieval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946136" y="2788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BGE-M3 + pgvector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149840" y="2240280"/>
            <a:ext cx="1783080" cy="1051560"/>
          </a:xfrm>
          <a:prstGeom prst="roundRect">
            <a:avLst>
              <a:gd name="adj" fmla="val 10435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0" y="2240280"/>
            <a:ext cx="1783080" cy="73152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77856" y="25146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7FB"/>
                </a:solidFill>
              </a:rPr>
              <a:t>Snapshots &amp; Reports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0277856" y="27889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搜索快照 / 商品池 / 报告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97480" y="2615184"/>
            <a:ext cx="256032" cy="237744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2615184"/>
            <a:ext cx="256032" cy="237744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2615184"/>
            <a:ext cx="256032" cy="237744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2615184"/>
            <a:ext cx="256032" cy="237744"/>
          </a:xfrm>
          <a:prstGeom prst="chevron">
            <a:avLst/>
          </a:prstGeom>
          <a:solidFill>
            <a:srgbClr val="2B3A5B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0690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GLM 负责标题改写和报告叙事，解决语义转换和解释生成。</a:t>
            </a:r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 + pgvector 负责 1688 语义召回，提升中文货源匹配命中率。</a:t>
            </a:r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后端采用异步任务编排，天然适配长耗时智能体链路。</a:t>
            </a:r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真实接口不可用时自动回退到历史快照，保证 demo 稳定。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4206240"/>
            <a:ext cx="1188720" cy="868680"/>
          </a:xfrm>
          <a:prstGeom prst="roundRect">
            <a:avLst>
              <a:gd name="adj" fmla="val 12632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4206240"/>
            <a:ext cx="73152" cy="868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43708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LLM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62672" y="45902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GLM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662672" y="47640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rewrite + narrative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823960" y="4206240"/>
            <a:ext cx="1188720" cy="868680"/>
          </a:xfrm>
          <a:prstGeom prst="roundRect">
            <a:avLst>
              <a:gd name="adj" fmla="val 12632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23960" y="4206240"/>
            <a:ext cx="73152" cy="868680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88552" y="43708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Vector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988552" y="45902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1024d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988552" y="47640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BGE-M3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49840" y="4206240"/>
            <a:ext cx="1188720" cy="868680"/>
          </a:xfrm>
          <a:prstGeom prst="roundRect">
            <a:avLst>
              <a:gd name="adj" fmla="val 12632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9840" y="4206240"/>
            <a:ext cx="73152" cy="868680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14432" y="43708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Mode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314432" y="45902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Fallback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314432" y="476402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stable demo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用仓库里的真实 seed 数据，推导一个可讲的套利案例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示例关键词：Acrylic Desktop Organizer。以下数字基于当前仓库的价格、运费和默认定价参数推导。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017520" cy="356616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84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Amazon 候选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87552" y="2468880"/>
            <a:ext cx="2596896" cy="1280160"/>
          </a:xfrm>
          <a:prstGeom prst="rect">
            <a:avLst/>
          </a:prstGeom>
          <a:solidFill>
            <a:srgbClr val="203353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9136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BEYGORM Magnetic Dry Erase Marker Holder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44074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E9FD"/>
                </a:solidFill>
              </a:rPr>
              <a:t>售价 12.99 USD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1874520"/>
            <a:ext cx="3017520" cy="356616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0848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1688 匹配货源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370832" y="2468880"/>
            <a:ext cx="2596896" cy="1280160"/>
          </a:xfrm>
          <a:prstGeom prst="rect">
            <a:avLst/>
          </a:prstGeom>
          <a:solidFill>
            <a:srgbClr val="203353"/>
          </a:solidFill>
          <a:ln w="12700">
            <a:solidFill>
              <a:srgbClr val="2B3A5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91363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B"/>
                </a:solidFill>
              </a:rPr>
              <a:t>亚马逊爆款亚克力磁吸笔筒收纳盒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62272" y="440740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E9FD"/>
                </a:solidFill>
              </a:rPr>
              <a:t>采购 15.00 CNY / 国内运费 5.00 CNY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196596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1965960"/>
            <a:ext cx="73152" cy="914400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91272" y="2130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目标售价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91272" y="2350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¥93.53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91272" y="256946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12.99 USD x 7.20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52560" y="196596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965960"/>
            <a:ext cx="73152" cy="9144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2130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总成本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17152" y="2350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¥48.06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17152" y="256946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采购+运费+物流+佣金+汇损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378440" y="196596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1965960"/>
            <a:ext cx="73152" cy="914400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43032" y="2130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利润率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43032" y="2350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48.6%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543032" y="256946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当前配置推导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26680" y="315468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3154680"/>
            <a:ext cx="73152" cy="914400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33192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预估利润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91272" y="3538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¥45.47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891272" y="37581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真实样例数字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052560" y="315468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3154680"/>
            <a:ext cx="73152" cy="91440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17152" y="33192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风险等级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17152" y="3538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低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217152" y="37581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可作为推荐案例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378440" y="315468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78440" y="3154680"/>
            <a:ext cx="73152" cy="914400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43032" y="33192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结论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43032" y="3538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推荐进入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543032" y="37581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适合 hackathon demo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754112" y="45262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美元汇率 7.20</a:t>
            </a:r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跨境物流费率 12%</a:t>
            </a:r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平台佣金费率 15%</a:t>
            </a:r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汇损费率 3%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E9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 TradeFlow 不是一个普通 AI Demo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5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它更像一个最小可行产品，而不是只会回答问题的原型。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4983480" cy="4069080"/>
          </a:xfrm>
          <a:prstGeom prst="roundRect">
            <a:avLst>
              <a:gd name="adj" fmla="val 2697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1874520"/>
            <a:ext cx="4983480" cy="4069080"/>
          </a:xfrm>
          <a:prstGeom prst="roundRect">
            <a:avLst>
              <a:gd name="adj" fmla="val 2697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21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普通 AI Demo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82512" y="2121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87"/>
                </a:solidFill>
              </a:rPr>
              <a:t>TradeFlow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2578608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停留在聊天回答或单点查询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没有任务状态和过程日志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不沉淀为结构化报告资产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接口不稳时容易现场失效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64224" y="2578608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发现 + 匹配 + 测算 + 风控的完整闭环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工作台式界面，适合真实业务操作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异步任务、日志链路、报告下载都已具备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通过历史快照和 fallback 保证 demo 稳定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78992" y="5029200"/>
            <a:ext cx="1280160" cy="749808"/>
          </a:xfrm>
          <a:prstGeom prst="roundRect">
            <a:avLst>
              <a:gd name="adj" fmla="val 14634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5029200"/>
            <a:ext cx="73152" cy="749808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5193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43584" y="5413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已完成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43584" y="54681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三栏工作台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23744" y="5029200"/>
            <a:ext cx="1280160" cy="749808"/>
          </a:xfrm>
          <a:prstGeom prst="roundRect">
            <a:avLst>
              <a:gd name="adj" fmla="val 14634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3744" y="5029200"/>
            <a:ext cx="73152" cy="749808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5193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88336" y="5413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已打通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688336" y="54681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两阶段任务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68496" y="5029200"/>
            <a:ext cx="1280160" cy="749808"/>
          </a:xfrm>
          <a:prstGeom prst="roundRect">
            <a:avLst>
              <a:gd name="adj" fmla="val 14634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68496" y="5029200"/>
            <a:ext cx="73152" cy="749808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5193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Report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33088" y="5413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已输出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33088" y="54681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结构化报告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64224" y="5029200"/>
            <a:ext cx="1280160" cy="749808"/>
          </a:xfrm>
          <a:prstGeom prst="roundRect">
            <a:avLst>
              <a:gd name="adj" fmla="val 14634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4224" y="5029200"/>
            <a:ext cx="73152" cy="74980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5193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LLM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28816" y="5413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已接入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28816" y="54681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GLM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08976" y="5029200"/>
            <a:ext cx="1280160" cy="749808"/>
          </a:xfrm>
          <a:prstGeom prst="roundRect">
            <a:avLst>
              <a:gd name="adj" fmla="val 14634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08976" y="5029200"/>
            <a:ext cx="73152" cy="749808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73568" y="5193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Vector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73568" y="5413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已接入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973568" y="54681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BGE-M3 + pgvector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253728" y="5029200"/>
            <a:ext cx="1280160" cy="749808"/>
          </a:xfrm>
          <a:prstGeom prst="roundRect">
            <a:avLst>
              <a:gd name="adj" fmla="val 14634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53728" y="5029200"/>
            <a:ext cx="73152" cy="749808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0" y="5193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Demo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18320" y="5413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稳定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418320" y="54681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fallback ready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863840" y="-731520"/>
            <a:ext cx="5120640" cy="7863840"/>
          </a:xfrm>
          <a:prstGeom prst="rect">
            <a:avLst/>
          </a:prstGeom>
          <a:solidFill>
            <a:srgbClr val="16213E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457200" y="5394960"/>
            <a:ext cx="5303520" cy="2286000"/>
          </a:xfrm>
          <a:prstGeom prst="rect">
            <a:avLst/>
          </a:prstGeom>
          <a:solidFill>
            <a:srgbClr val="3FA7FF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86384" y="1737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E9F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让跨境选品从经验驱动，走向数据 + AI 驱动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5C6"/>
                </a:solidFill>
              </a:rPr>
              <a:t>我们已经打通最难演示的一条链路：从海外爆款发现，到国内货源和利润判断。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3886200"/>
            <a:ext cx="1828800" cy="969264"/>
          </a:xfrm>
          <a:prstGeom prst="roundRect">
            <a:avLst>
              <a:gd name="adj" fmla="val 11321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886200"/>
            <a:ext cx="73152" cy="969264"/>
          </a:xfrm>
          <a:prstGeom prst="rect">
            <a:avLst/>
          </a:prstGeom>
          <a:solidFill>
            <a:srgbClr val="3FA7FF"/>
          </a:solidFill>
          <a:ln w="12700">
            <a:solidFill>
              <a:srgbClr val="3FA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下一步 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2702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扩市场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45445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接入更多海外站点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52928" y="3886200"/>
            <a:ext cx="1828800" cy="969264"/>
          </a:xfrm>
          <a:prstGeom prst="roundRect">
            <a:avLst>
              <a:gd name="adj" fmla="val 11321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3886200"/>
            <a:ext cx="73152" cy="9692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下一步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42702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扩货源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17520" y="45445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更多国内供货渠道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64608" y="3886200"/>
            <a:ext cx="1828800" cy="969264"/>
          </a:xfrm>
          <a:prstGeom prst="roundRect">
            <a:avLst>
              <a:gd name="adj" fmla="val 11321"/>
            </a:avLst>
          </a:prstGeom>
          <a:solidFill>
            <a:srgbClr val="111B35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3886200"/>
            <a:ext cx="73152" cy="969264"/>
          </a:xfrm>
          <a:prstGeom prst="rect">
            <a:avLst/>
          </a:prstGeom>
          <a:solidFill>
            <a:srgbClr val="21C087"/>
          </a:solidFill>
          <a:ln w="12700">
            <a:solidFill>
              <a:srgbClr val="21C0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A5C6"/>
                </a:solidFill>
              </a:rPr>
              <a:t>下一步 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42702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扩风控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0" y="45445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5C6"/>
                </a:solidFill>
              </a:rPr>
              <a:t>更丰富风险信号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818120" y="1024128"/>
            <a:ext cx="3429000" cy="493776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2B3A5B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1417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现场可演示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38160" y="18745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输入任意关键词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生成海外候选列表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选择一个候选做二次分析</a:t>
            </a:r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查看利润率、风险和最终建议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56448" y="5074920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183B39"/>
          </a:solidFill>
          <a:ln w="12700">
            <a:solidFill>
              <a:srgbClr val="183B3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51435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C087"/>
                </a:solidFill>
              </a:rPr>
              <a:t>欢迎直接跑一个关键词 demo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5806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TradeFlow Hackathon Pitch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CB3"/>
                </a:solidFill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TradeFlow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TradeFlow：AI驱动的跨境选品与套利分析工作台</dc:title>
  <dc:subject>TradeFlow Hackathon Pitch</dc:subject>
  <dc:creator>OpenAI Codex</dc:creator>
  <cp:lastModifiedBy>OpenAI Codex</cp:lastModifiedBy>
  <cp:revision>1</cp:revision>
  <dcterms:created xsi:type="dcterms:W3CDTF">2026-04-06T18:00:14Z</dcterms:created>
  <dcterms:modified xsi:type="dcterms:W3CDTF">2026-04-06T18:00:14Z</dcterms:modified>
</cp:coreProperties>
</file>